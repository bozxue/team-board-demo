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戴纳 AI 引导式视觉平台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1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v0.3.0-mvp    1 /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57200"/>
            <a:ext cx="11338560" cy="12700"/>
          </a:xfrm>
          <a:prstGeom prst="rect">
            <a:avLst/>
          </a:prstGeom>
          <a:solidFill>
            <a:srgbClr val="243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工业视觉  ·  引导式开发平台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用一句话描述检测需求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8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平台自动生成可运行、可发布的视觉方案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传统图像算法与深度学习分类在同一条流程里完成：诊断成像、推荐路线、画布调参、批量验证漏检误报，发布后操作员只看到业务阈值和 OK / NG。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44368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44368"/>
            <a:ext cx="91440" cy="187451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06324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3649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说人话出方案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822191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意图识别 + 成像诊断
生成白名单内可运行流程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944368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944368"/>
            <a:ext cx="91440" cy="187451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06324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3649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画布上调得动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822191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66 个算子 DAG 执行
缓存重算、逐节点预览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944368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2944368"/>
            <a:ext cx="91440" cy="187451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306324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33649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发布改不坏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3822191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参数分工程师 / 业务 / 锁定
操作员只能改范围内阈值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1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28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704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视觉算子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532120"/>
            <a:ext cx="12700" cy="640080"/>
          </a:xfrm>
          <a:prstGeom prst="rect">
            <a:avLst/>
          </a:prstGeom>
          <a:solidFill>
            <a:srgbClr val="243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5349240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28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8704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分类训练后端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532120"/>
            <a:ext cx="12700" cy="640080"/>
          </a:xfrm>
          <a:prstGeom prst="rect">
            <a:avLst/>
          </a:prstGeom>
          <a:solidFill>
            <a:srgbClr val="243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349240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28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8704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工作角色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5532120"/>
            <a:ext cx="12700" cy="640080"/>
          </a:xfrm>
          <a:prstGeom prst="rect">
            <a:avLst/>
          </a:prstGeom>
          <a:solidFill>
            <a:srgbClr val="243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5349240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28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58704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条上线闭环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戴纳 AI 引导式视觉平台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1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v0.3.0-mvp    2 /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57200"/>
            <a:ext cx="11338560" cy="12700"/>
          </a:xfrm>
          <a:prstGeom prst="rect">
            <a:avLst/>
          </a:prstGeom>
          <a:solidFill>
            <a:srgbClr val="243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从需求到量产检测，一条闭环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工程师在画布上完成方案，操作员在运行页只面对结果。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44752"/>
            <a:ext cx="1494390" cy="566928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44752"/>
            <a:ext cx="149439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9294" y="1444752"/>
            <a:ext cx="219456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8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2174" y="1444752"/>
            <a:ext cx="1494390" cy="566928"/>
          </a:xfrm>
          <a:prstGeom prst="roundRect">
            <a:avLst>
              <a:gd name="adj" fmla="val 20000"/>
            </a:avLst>
          </a:prstGeom>
          <a:solidFill>
            <a:srgbClr val="1D2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2174" y="1444752"/>
            <a:ext cx="149439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9988" y="1444752"/>
            <a:ext cx="219456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8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92868" y="1444752"/>
            <a:ext cx="1494390" cy="566928"/>
          </a:xfrm>
          <a:prstGeom prst="roundRect">
            <a:avLst>
              <a:gd name="adj" fmla="val 20000"/>
            </a:avLst>
          </a:prstGeom>
          <a:solidFill>
            <a:srgbClr val="1D2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2868" y="1444752"/>
            <a:ext cx="149439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0682" y="1444752"/>
            <a:ext cx="219456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8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3562" y="1444752"/>
            <a:ext cx="1494390" cy="566928"/>
          </a:xfrm>
          <a:prstGeom prst="roundRect">
            <a:avLst>
              <a:gd name="adj" fmla="val 20000"/>
            </a:avLst>
          </a:prstGeom>
          <a:solidFill>
            <a:srgbClr val="1D2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3562" y="1444752"/>
            <a:ext cx="149439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76" y="1444752"/>
            <a:ext cx="219456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8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4256" y="1444752"/>
            <a:ext cx="1494390" cy="566928"/>
          </a:xfrm>
          <a:prstGeom prst="roundRect">
            <a:avLst>
              <a:gd name="adj" fmla="val 20000"/>
            </a:avLst>
          </a:prstGeom>
          <a:solidFill>
            <a:srgbClr val="1D2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4256" y="1444752"/>
            <a:ext cx="149439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批量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070" y="1444752"/>
            <a:ext cx="219456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8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14950" y="1444752"/>
            <a:ext cx="1494390" cy="566928"/>
          </a:xfrm>
          <a:prstGeom prst="roundRect">
            <a:avLst>
              <a:gd name="adj" fmla="val 20000"/>
            </a:avLst>
          </a:prstGeom>
          <a:solidFill>
            <a:srgbClr val="1D2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4950" y="1444752"/>
            <a:ext cx="149439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2764" y="1444752"/>
            <a:ext cx="219456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8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55644" y="1444752"/>
            <a:ext cx="1494390" cy="566928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55644" y="1444752"/>
            <a:ext cx="149439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监控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267712"/>
            <a:ext cx="3703320" cy="1874519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2267712"/>
            <a:ext cx="370332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24688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助手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2889504"/>
            <a:ext cx="33101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用业务语言描述目标。平台做意图识别与成像诊断，生成通过校验的节点流程；无大模型时走规则引擎。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2267712"/>
            <a:ext cx="3703320" cy="1874519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2267712"/>
            <a:ext cx="370332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24688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节点画布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2889504"/>
            <a:ext cx="33101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66 个算子按端口类型连线。改参自动重跑下游，缓存命中前段，ROI 可在图上框选回填。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2267712"/>
            <a:ext cx="3703320" cy="1874519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2267712"/>
            <a:ext cx="370332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5047" y="24688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数据标注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7" y="2889504"/>
            <a:ext cx="33101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上传或目录导入。整图分类 / 框 / 多边形 / 点。导出 COCO、YOLO、分类清单。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4297680"/>
            <a:ext cx="3703320" cy="1874519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4297680"/>
            <a:ext cx="370332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44988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模型训练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4919472"/>
            <a:ext cx="33101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LBP+SVM 适合小样本纹理；EfficientNet 与 YOLO-cls 适合外观分类，训完导出 ONNX。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97680"/>
            <a:ext cx="3703320" cy="1874519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97680" y="4297680"/>
            <a:ext cx="370332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98848" y="44988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批量测试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8848" y="4919472"/>
            <a:ext cx="33101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准确率、精确率、召回率、F1、漏检、误报。误判可回流训练集，结果导出 CSV。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83879" y="4297680"/>
            <a:ext cx="3703320" cy="1874519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3879" y="4297680"/>
            <a:ext cx="370332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85047" y="44988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运行监控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5047" y="4919472"/>
            <a:ext cx="33101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发布后操作员只改业务参数。监控看设备在线、置信度、耗时、良率与逐次明细。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戴纳 AI 引导式视觉平台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1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v0.3.0-mvp    3 /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57200"/>
            <a:ext cx="11338560" cy="12700"/>
          </a:xfrm>
          <a:prstGeom prst="rect">
            <a:avLst/>
          </a:prstGeom>
          <a:solidFill>
            <a:srgbClr val="243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典型场景，两种角色，立刻可跑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703320" cy="2331720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2801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表面缺陷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62763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污渍 · 瑕疵 · 异物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65960"/>
            <a:ext cx="3310128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CLAHE、自适应阈值、形态学、Blob。面积或数量超限即 NG。适合布面、零件外观。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43000"/>
            <a:ext cx="3703320" cy="2331720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2801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物料分类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62763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袋装谷物 · 外观种类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965960"/>
            <a:ext cx="3310128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按类别导入样本，训 EfficientNet 或 YOLO 分类，接到 AI 分类节点。业务参数是最低置信度。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143000"/>
            <a:ext cx="3703320" cy="2331720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7" y="12801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生物视觉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7" y="162763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iPSC 克隆定位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7" y="1965960"/>
            <a:ext cx="3310128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8BA0BB"/>
                </a:solidFill>
                <a:latin typeface="微软雅黑"/>
                <a:ea typeface="微软雅黑"/>
                <a:cs typeface="微软雅黑"/>
              </a:rPr>
              <a:t>局部纹理分割克隆区域，输出面积占比、等效直径。也可分块分类做形态分型。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03320"/>
            <a:ext cx="5715000" cy="2331720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703320"/>
            <a:ext cx="91440" cy="2331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工程师模式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51960"/>
            <a:ext cx="512064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E8EFF9"/>
                </a:solidFill>
                <a:latin typeface="微软雅黑"/>
                <a:ea typeface="微软雅黑"/>
                <a:cs typeface="微软雅黑"/>
              </a:rPr>
              <a:t>▸  搭流程、看中间图、训模型、发版本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36008"/>
            <a:ext cx="512064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E8EFF9"/>
                </a:solidFill>
                <a:latin typeface="微软雅黑"/>
                <a:ea typeface="微软雅黑"/>
                <a:cs typeface="微软雅黑"/>
              </a:rPr>
              <a:t>▸  全部节点参数可见，含工程师级阈值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0056"/>
            <a:ext cx="512064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E8EFF9"/>
                </a:solidFill>
                <a:latin typeface="微软雅黑"/>
                <a:ea typeface="微软雅黑"/>
                <a:cs typeface="微软雅黑"/>
              </a:rPr>
              <a:t>▸  批量测试量化漏检 / 误报后再发布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703320"/>
            <a:ext cx="5440680" cy="2331720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703320"/>
            <a:ext cx="91440" cy="2331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840480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>
                <a:solidFill>
                  <a:srgbClr val="34D399"/>
                </a:solidFill>
                <a:latin typeface="微软雅黑"/>
                <a:ea typeface="微软雅黑"/>
                <a:cs typeface="微软雅黑"/>
              </a:rPr>
              <a:t>操作员模式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251960"/>
            <a:ext cx="489204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E8EFF9"/>
                </a:solidFill>
                <a:latin typeface="微软雅黑"/>
                <a:ea typeface="微软雅黑"/>
                <a:cs typeface="微软雅黑"/>
              </a:rPr>
              <a:t>▸  运行页：单次触发或连续检测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636008"/>
            <a:ext cx="489204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E8EFF9"/>
                </a:solidFill>
                <a:latin typeface="微软雅黑"/>
                <a:ea typeface="微软雅黑"/>
                <a:cs typeface="微软雅黑"/>
              </a:rPr>
              <a:t>▸  只暴露业务参数，服务端按范围夹紧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020056"/>
            <a:ext cx="489204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>
                <a:solidFill>
                  <a:srgbClr val="E8EFF9"/>
                </a:solidFill>
                <a:latin typeface="微软雅黑"/>
                <a:ea typeface="微软雅黑"/>
                <a:cs typeface="微软雅黑"/>
              </a:rPr>
              <a:t>▸  OK / NG、良率、报警；监控可回溯明细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